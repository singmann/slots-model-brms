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EF51D-D007-D3D2-6A48-3D469E66D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1E1AD-6315-813B-9D41-B9B34F23AC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E8502-F751-A348-FBE8-6DE216D2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B4DAE-A223-ACA7-1D96-B12968B4D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CC044-1BE7-C79C-56E0-7DDE2F7D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66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5E94-7942-3F2B-317F-785863606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FB28-4838-78A0-6FC5-D86CFA1AB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2102-9D3A-FC9E-02B9-EAE9A7F8F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F994-2B7B-49F0-023A-59B75306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06E57-AB29-33C5-979B-DA425700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3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CC212-5112-62A7-4F41-E66AA4CAE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FD381-59B1-71E4-26AC-AFDAC6C66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18C3-34D9-08A2-2CE1-A4A7DE13C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C243D-2630-DE06-6C80-3D8E6FE1E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80BF6-FFCF-F07B-ECF6-4AF4F9BE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70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241F9-3563-8B2A-429C-48D7094C5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71908-BA34-7C8E-D639-A308ACDEF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F174A-6D3F-70F9-6D2D-B568F8B8E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28382-82B3-A409-D8FE-D3EED82B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18CC1-007F-859C-870F-29A26B4A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90365-A14A-0A68-0A36-6A5324A9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8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D75A-EEAD-9ADF-3C3E-56EFA755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072A5-A40C-557E-0600-B113E10EE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EF952-0F1E-7EE9-2CAB-0374D2E24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D0777-DF23-214C-C85B-A8A869230E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F61C2C-42B9-8E71-838F-592DFE255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F58F3-70D5-F9BD-2186-86DB508E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3CBEF-B629-330E-AFC2-5A013054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24ADF-384D-63A0-286C-41E15E901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0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CC3A-68D2-9AFC-CF4A-67E7A03CB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14673-9BEC-CA5B-F8CB-644AB2027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40B9B4-051C-BCE9-44AE-C0F515D7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2B9D0-C53C-7268-5657-8DDA183C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0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D28A6-0F94-D3EF-DD1B-8CFD5329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0C59E-6DF5-E2FF-CF93-01AA1EE1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9387F-93A7-30A8-DF0B-D0BFCA06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8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A9A0F-79F9-7F99-97CF-3DD4E3CE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BCAA6-CA9E-03F2-26EA-BD6C735B3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2D807-6E8E-79FF-65CB-3228C4411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765EA-2871-9C1A-C5F0-80914398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AB019-8DD2-851A-AA02-CBB827C0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BDF8C-CD85-5BEE-1CF2-8B9B1581E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5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5D97-DB75-02BA-E714-420BF610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DEA6C-841E-A4EC-45C7-A47749703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9ECC3-AC96-EE35-C087-528A97261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18097-FAF6-A738-5B61-FD54D7F5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6C2BA-5336-97CE-37BE-02ECC175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16964-6CA9-719E-66E0-AC0E4248E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5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D04E-8D49-B6D5-5ACE-A292D213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594CBD-9A9B-F694-9DEA-10671F4D0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1085-C076-F6EA-AD4B-5F46F00C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11477-CDF6-CC9F-1B68-94ECFE75F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EEFCD-7AED-0CB4-2627-18C3F9A6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99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EA8CD-9DED-449A-E1F2-870EE14E46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9A0BA-227E-603F-E347-26723A9EB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9C85E-3C99-ED22-722E-3C4F79AF8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8117-820B-0AD6-22B9-645B5B0EE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04395-FD77-74F5-9A31-D7C379BF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0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A84B0-D00D-1E97-3B2A-282A0C245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F1F6-A3C5-777D-2A39-68305836F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498F-E4DC-4196-D6FE-D2009EFDB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B4980-9DFA-7D40-AE12-CBAAE4A971FE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0CD7A-C649-84B4-2F6A-FB8F1BF0C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D7BD7-1741-AF3F-7F8B-56F3FA7FD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53125-E912-5B43-9098-6950350A2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2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73/pnas.0711295105" TargetMode="External"/><Relationship Id="rId2" Type="http://schemas.openxmlformats.org/officeDocument/2006/relationships/hyperlink" Target="https://doi.org/10.3758/s13414-013-0561-7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B55D-8490-2207-EEB6-9612E61F20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Change Detection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74B86-DBA1-A5F4-5CE3-FE10EB62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GB" dirty="0">
                <a:effectLst/>
              </a:rPr>
              <a:t>Donkin, C., Tran, S. C., &amp; </a:t>
            </a:r>
            <a:r>
              <a:rPr lang="en-GB" dirty="0" err="1">
                <a:effectLst/>
              </a:rPr>
              <a:t>Nosofsky</a:t>
            </a:r>
            <a:r>
              <a:rPr lang="en-GB" dirty="0">
                <a:effectLst/>
              </a:rPr>
              <a:t>, R. (2014). Landscaping analyses of the ROC predictions of discrete-slots and signal-detection models of visual working memory. </a:t>
            </a:r>
            <a:r>
              <a:rPr lang="en-GB" i="1" dirty="0">
                <a:effectLst/>
              </a:rPr>
              <a:t>Attention, Perception, &amp; Psychophysics</a:t>
            </a:r>
            <a:r>
              <a:rPr lang="en-GB" dirty="0">
                <a:effectLst/>
              </a:rPr>
              <a:t>, </a:t>
            </a:r>
            <a:r>
              <a:rPr lang="en-GB" i="1" dirty="0">
                <a:effectLst/>
              </a:rPr>
              <a:t>76</a:t>
            </a:r>
            <a:r>
              <a:rPr lang="en-GB" dirty="0">
                <a:effectLst/>
              </a:rPr>
              <a:t>(7), 2103–2116. </a:t>
            </a:r>
            <a:r>
              <a:rPr lang="en-GB" dirty="0">
                <a:effectLst/>
                <a:hlinkClick r:id="rId2"/>
              </a:rPr>
              <a:t>https://doi.org/10.3758/s13414-013-0561-7</a:t>
            </a:r>
            <a:endParaRPr lang="en-GB" dirty="0">
              <a:effectLst/>
            </a:endParaRPr>
          </a:p>
          <a:p>
            <a:pPr algn="l"/>
            <a:r>
              <a:rPr lang="en-US" dirty="0"/>
              <a:t>See also: </a:t>
            </a:r>
            <a:r>
              <a:rPr lang="en-GB" dirty="0" err="1">
                <a:effectLst/>
              </a:rPr>
              <a:t>Rouder</a:t>
            </a:r>
            <a:r>
              <a:rPr lang="en-GB" dirty="0">
                <a:effectLst/>
              </a:rPr>
              <a:t>, J. N., Morey, R. D., Cowan, N., Zwilling, C. E., Morey, C. C., &amp; Pratte, M. S. (2008). An assessment of fixed-capacity models of visual working memory. </a:t>
            </a:r>
            <a:r>
              <a:rPr lang="en-GB" i="1" dirty="0">
                <a:effectLst/>
              </a:rPr>
              <a:t>Proceedings of the National Academy of Sciences</a:t>
            </a:r>
            <a:r>
              <a:rPr lang="en-GB" dirty="0">
                <a:effectLst/>
              </a:rPr>
              <a:t>, </a:t>
            </a:r>
            <a:r>
              <a:rPr lang="en-GB" i="1" dirty="0">
                <a:effectLst/>
              </a:rPr>
              <a:t>105</a:t>
            </a:r>
            <a:r>
              <a:rPr lang="en-GB" dirty="0">
                <a:effectLst/>
              </a:rPr>
              <a:t>(16), 5975–5979. </a:t>
            </a:r>
            <a:r>
              <a:rPr lang="en-GB" dirty="0">
                <a:effectLst/>
                <a:hlinkClick r:id="rId3"/>
              </a:rPr>
              <a:t>https://doi.org/10.1073/pnas.0711295105</a:t>
            </a:r>
            <a:endParaRPr lang="en-GB" dirty="0">
              <a:effectLst/>
            </a:endParaRP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28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32224-F4F7-85C5-793E-44855C2AB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Change Detection Task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DE0E4-CF7F-AF3C-6323-0B2BAC306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 fontScale="77500" lnSpcReduction="20000"/>
          </a:bodyPr>
          <a:lstStyle/>
          <a:p>
            <a:r>
              <a:rPr lang="en-US" sz="2200" dirty="0"/>
              <a:t>Binary response: Does test </a:t>
            </a:r>
            <a:r>
              <a:rPr lang="en-US" sz="2200" dirty="0" err="1"/>
              <a:t>colour</a:t>
            </a:r>
            <a:r>
              <a:rPr lang="en-US" sz="2200" dirty="0"/>
              <a:t> match study </a:t>
            </a:r>
            <a:r>
              <a:rPr lang="en-US" sz="2200" dirty="0" err="1"/>
              <a:t>colour</a:t>
            </a:r>
            <a:r>
              <a:rPr lang="en-US" sz="2200" dirty="0"/>
              <a:t>?</a:t>
            </a:r>
          </a:p>
          <a:p>
            <a:pPr lvl="1"/>
            <a:r>
              <a:rPr lang="en-US" sz="1800" dirty="0"/>
              <a:t>Different (= change)</a:t>
            </a:r>
          </a:p>
          <a:p>
            <a:pPr lvl="1"/>
            <a:r>
              <a:rPr lang="en-US" sz="1800" dirty="0"/>
              <a:t>Same </a:t>
            </a:r>
          </a:p>
          <a:p>
            <a:r>
              <a:rPr lang="en-US" sz="2200" dirty="0"/>
              <a:t>Three study set sizes</a:t>
            </a:r>
          </a:p>
          <a:p>
            <a:pPr lvl="1"/>
            <a:r>
              <a:rPr lang="en-US" sz="1800" dirty="0"/>
              <a:t>2, 5, 8</a:t>
            </a:r>
          </a:p>
          <a:p>
            <a:pPr lvl="1"/>
            <a:r>
              <a:rPr lang="en-US" sz="1800" dirty="0"/>
              <a:t>Set sizes randomly intermixed within block</a:t>
            </a:r>
          </a:p>
          <a:p>
            <a:r>
              <a:rPr lang="en-US" sz="2200" dirty="0"/>
              <a:t>Five change set sizes across blocks</a:t>
            </a:r>
          </a:p>
          <a:p>
            <a:pPr lvl="1"/>
            <a:r>
              <a:rPr lang="en-US" sz="1800" dirty="0"/>
              <a:t>.15, .3, .5, .7, .85</a:t>
            </a:r>
          </a:p>
          <a:p>
            <a:pPr lvl="1"/>
            <a:r>
              <a:rPr lang="en-US" sz="1800" dirty="0"/>
              <a:t>10 blocks of 50 trials</a:t>
            </a:r>
          </a:p>
          <a:p>
            <a:pPr lvl="1"/>
            <a:r>
              <a:rPr lang="en-US" sz="1800" dirty="0"/>
              <a:t>participants are informed about change proportion at beginning of block</a:t>
            </a:r>
          </a:p>
          <a:p>
            <a:pPr lvl="1"/>
            <a:r>
              <a:rPr lang="en-US" sz="1800" dirty="0"/>
              <a:t>random order of blocks</a:t>
            </a:r>
          </a:p>
          <a:p>
            <a:pPr lvl="1"/>
            <a:endParaRPr lang="en-US" sz="1800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238B1482-2EAB-16A5-180B-94E43DA51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DE5617-6572-3F16-7B3D-20690F981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266416"/>
              </p:ext>
            </p:extLst>
          </p:nvPr>
        </p:nvGraphicFramePr>
        <p:xfrm>
          <a:off x="4122810" y="4886188"/>
          <a:ext cx="3946379" cy="1651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5459">
                  <a:extLst>
                    <a:ext uri="{9D8B030D-6E8A-4147-A177-3AD203B41FA5}">
                      <a16:colId xmlns:a16="http://schemas.microsoft.com/office/drawing/2014/main" val="1814606471"/>
                    </a:ext>
                  </a:extLst>
                </a:gridCol>
                <a:gridCol w="1470693">
                  <a:extLst>
                    <a:ext uri="{9D8B030D-6E8A-4147-A177-3AD203B41FA5}">
                      <a16:colId xmlns:a16="http://schemas.microsoft.com/office/drawing/2014/main" val="764265497"/>
                    </a:ext>
                  </a:extLst>
                </a:gridCol>
                <a:gridCol w="1160227">
                  <a:extLst>
                    <a:ext uri="{9D8B030D-6E8A-4147-A177-3AD203B41FA5}">
                      <a16:colId xmlns:a16="http://schemas.microsoft.com/office/drawing/2014/main" val="4285832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“change”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“same”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283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Change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/>
                        <a:t>Pr</a:t>
                      </a:r>
                      <a:r>
                        <a:rPr lang="en-US" dirty="0"/>
                        <a:t>(“C”|C)</a:t>
                      </a:r>
                    </a:p>
                    <a:p>
                      <a:r>
                        <a:rPr lang="en-US" b="1" dirty="0"/>
                        <a:t>Hit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err="1"/>
                        <a:t>Pr</a:t>
                      </a:r>
                      <a:r>
                        <a:rPr lang="en-US" dirty="0"/>
                        <a:t>(“S”|C)</a:t>
                      </a:r>
                    </a:p>
                    <a:p>
                      <a:r>
                        <a:rPr lang="en-US" dirty="0"/>
                        <a:t>Miss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876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Same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err="1"/>
                        <a:t>Pr</a:t>
                      </a:r>
                      <a:r>
                        <a:rPr lang="en-US" dirty="0"/>
                        <a:t>(“C”|S)</a:t>
                      </a:r>
                    </a:p>
                    <a:p>
                      <a:r>
                        <a:rPr lang="en-US" b="1" dirty="0"/>
                        <a:t>False Alarm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err="1"/>
                        <a:t>Pr</a:t>
                      </a:r>
                      <a:r>
                        <a:rPr lang="en-US" dirty="0"/>
                        <a:t>(“C”|C)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38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94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14020-206A-8460-C1BA-2BE1468B1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A93C-0AE2-B2AA-5736-EC1291A8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3348"/>
            <a:ext cx="10515600" cy="1325563"/>
          </a:xfrm>
        </p:spPr>
        <p:txBody>
          <a:bodyPr/>
          <a:lstStyle/>
          <a:p>
            <a:r>
              <a:rPr lang="en-US" dirty="0"/>
              <a:t>Slots Model (Cowan Variant)</a:t>
            </a:r>
          </a:p>
        </p:txBody>
      </p:sp>
      <p:pic>
        <p:nvPicPr>
          <p:cNvPr id="5" name="Content Placeholder 4" descr="A diagram of a hexagon&#10;&#10;AI-generated content may be incorrect.">
            <a:extLst>
              <a:ext uri="{FF2B5EF4-FFF2-40B4-BE49-F238E27FC236}">
                <a16:creationId xmlns:a16="http://schemas.microsoft.com/office/drawing/2014/main" id="{0B92824C-D8E2-25CE-5471-9798CB143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3130" y="1509577"/>
            <a:ext cx="9812079" cy="30824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F0C9C-22AA-43BC-286F-6E4C9D20E663}"/>
              </a:ext>
            </a:extLst>
          </p:cNvPr>
          <p:cNvSpPr txBox="1"/>
          <p:nvPr/>
        </p:nvSpPr>
        <p:spPr>
          <a:xfrm>
            <a:off x="1137684" y="924802"/>
            <a:ext cx="340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Change Trial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E60146-A5FB-B9E0-6D96-27736A17C087}"/>
              </a:ext>
            </a:extLst>
          </p:cNvPr>
          <p:cNvSpPr txBox="1"/>
          <p:nvPr/>
        </p:nvSpPr>
        <p:spPr>
          <a:xfrm>
            <a:off x="6861545" y="924802"/>
            <a:ext cx="340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Same Trial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BDE6D-31AF-CCD4-D28C-DFAB40AF80E5}"/>
              </a:ext>
            </a:extLst>
          </p:cNvPr>
          <p:cNvSpPr txBox="1"/>
          <p:nvPr/>
        </p:nvSpPr>
        <p:spPr>
          <a:xfrm>
            <a:off x="838200" y="4654589"/>
            <a:ext cx="108292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m</a:t>
            </a:r>
            <a:r>
              <a:rPr lang="en-US" sz="2000" dirty="0"/>
              <a:t> (probability that study </a:t>
            </a:r>
            <a:r>
              <a:rPr lang="en-US" sz="2000" dirty="0" err="1"/>
              <a:t>colour</a:t>
            </a:r>
            <a:r>
              <a:rPr lang="en-US" sz="2000" dirty="0"/>
              <a:t> is in memory) = min(1; </a:t>
            </a:r>
            <a:r>
              <a:rPr lang="en-US" sz="2000" i="1" dirty="0"/>
              <a:t>k</a:t>
            </a:r>
            <a:r>
              <a:rPr lang="en-US" sz="2000" dirty="0"/>
              <a:t>/</a:t>
            </a:r>
            <a:r>
              <a:rPr lang="en-US" sz="2000" i="1" dirty="0"/>
              <a:t>M</a:t>
            </a:r>
            <a:r>
              <a:rPr lang="en-US" sz="2000" dirty="0"/>
              <a:t>), where </a:t>
            </a:r>
            <a:r>
              <a:rPr lang="en-US" sz="2000" i="1" dirty="0"/>
              <a:t>k</a:t>
            </a:r>
            <a:r>
              <a:rPr lang="en-US" sz="2000" dirty="0"/>
              <a:t> = memory capacity and </a:t>
            </a:r>
            <a:r>
              <a:rPr lang="en-US" sz="2000" i="1" dirty="0"/>
              <a:t>M</a:t>
            </a:r>
            <a:r>
              <a:rPr lang="en-US" sz="2000" dirty="0"/>
              <a:t> = study set size. </a:t>
            </a:r>
          </a:p>
          <a:p>
            <a:r>
              <a:rPr lang="en-US" sz="2000" i="1" dirty="0"/>
              <a:t>g</a:t>
            </a:r>
            <a:r>
              <a:rPr lang="en-US" sz="2000" dirty="0"/>
              <a:t> = probability to guess “change”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C5EDD-A282-2C59-621A-D76893373CA9}"/>
              </a:ext>
            </a:extLst>
          </p:cNvPr>
          <p:cNvSpPr txBox="1"/>
          <p:nvPr/>
        </p:nvSpPr>
        <p:spPr>
          <a:xfrm>
            <a:off x="838200" y="5670252"/>
            <a:ext cx="10829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Pr</a:t>
            </a:r>
            <a:r>
              <a:rPr lang="en-US" sz="2000" dirty="0"/>
              <a:t>(Hit) = </a:t>
            </a:r>
            <a:r>
              <a:rPr lang="en-US" sz="2000" i="1" dirty="0"/>
              <a:t>m</a:t>
            </a:r>
            <a:r>
              <a:rPr lang="en-US" sz="2000" dirty="0"/>
              <a:t> + (1 - </a:t>
            </a:r>
            <a:r>
              <a:rPr lang="en-US" sz="2000" i="1" dirty="0"/>
              <a:t>m</a:t>
            </a:r>
            <a:r>
              <a:rPr lang="en-US" sz="2000" dirty="0"/>
              <a:t>) * </a:t>
            </a:r>
            <a:r>
              <a:rPr lang="en-US" sz="2000" i="1" dirty="0"/>
              <a:t>g</a:t>
            </a:r>
          </a:p>
          <a:p>
            <a:r>
              <a:rPr lang="en-US" sz="2000" i="1" dirty="0" err="1"/>
              <a:t>Pr</a:t>
            </a:r>
            <a:r>
              <a:rPr lang="en-US" sz="2000" dirty="0"/>
              <a:t>(False Alarm) = (1 - </a:t>
            </a:r>
            <a:r>
              <a:rPr lang="en-US" sz="2000" i="1" dirty="0"/>
              <a:t>m</a:t>
            </a:r>
            <a:r>
              <a:rPr lang="en-US" sz="2000" dirty="0"/>
              <a:t>) * </a:t>
            </a:r>
            <a:r>
              <a:rPr lang="en-US" sz="2000" i="1" dirty="0"/>
              <a:t>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7200B-3562-630E-D22F-7C9FD6676814}"/>
              </a:ext>
            </a:extLst>
          </p:cNvPr>
          <p:cNvSpPr txBox="1"/>
          <p:nvPr/>
        </p:nvSpPr>
        <p:spPr>
          <a:xfrm>
            <a:off x="1277678" y="2019532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45C6C-E986-6E03-B4C7-05CAEBF26B4A}"/>
              </a:ext>
            </a:extLst>
          </p:cNvPr>
          <p:cNvSpPr txBox="1"/>
          <p:nvPr/>
        </p:nvSpPr>
        <p:spPr>
          <a:xfrm>
            <a:off x="978196" y="3370796"/>
            <a:ext cx="7141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45A4E-9B7C-3D43-CAE5-7AE4B1A77C9A}"/>
              </a:ext>
            </a:extLst>
          </p:cNvPr>
          <p:cNvSpPr txBox="1"/>
          <p:nvPr/>
        </p:nvSpPr>
        <p:spPr>
          <a:xfrm>
            <a:off x="2353782" y="3244334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16A61-9CFD-4B07-5428-2E14E2337A12}"/>
              </a:ext>
            </a:extLst>
          </p:cNvPr>
          <p:cNvSpPr txBox="1"/>
          <p:nvPr/>
        </p:nvSpPr>
        <p:spPr>
          <a:xfrm>
            <a:off x="2056070" y="3946703"/>
            <a:ext cx="6911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95C858-CE0D-1917-EEFB-371B390FC7CE}"/>
              </a:ext>
            </a:extLst>
          </p:cNvPr>
          <p:cNvSpPr txBox="1"/>
          <p:nvPr/>
        </p:nvSpPr>
        <p:spPr>
          <a:xfrm>
            <a:off x="5465132" y="2019532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F489BD-7A72-5C81-45E1-A794BC597EB6}"/>
              </a:ext>
            </a:extLst>
          </p:cNvPr>
          <p:cNvSpPr txBox="1"/>
          <p:nvPr/>
        </p:nvSpPr>
        <p:spPr>
          <a:xfrm>
            <a:off x="5165650" y="3370796"/>
            <a:ext cx="7141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50F291-6E87-0490-1482-BB0ED3579292}"/>
              </a:ext>
            </a:extLst>
          </p:cNvPr>
          <p:cNvSpPr txBox="1"/>
          <p:nvPr/>
        </p:nvSpPr>
        <p:spPr>
          <a:xfrm>
            <a:off x="6541236" y="3244334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067376-26FA-D535-5018-D7219C9FFEEF}"/>
              </a:ext>
            </a:extLst>
          </p:cNvPr>
          <p:cNvSpPr txBox="1"/>
          <p:nvPr/>
        </p:nvSpPr>
        <p:spPr>
          <a:xfrm>
            <a:off x="6243524" y="3946703"/>
            <a:ext cx="6911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86549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314E0-7C0C-302D-0321-388E6A74C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4BA0-E11F-30A0-12D4-BD214C7B6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2210"/>
            <a:ext cx="10932042" cy="1325563"/>
          </a:xfrm>
        </p:spPr>
        <p:txBody>
          <a:bodyPr/>
          <a:lstStyle/>
          <a:p>
            <a:r>
              <a:rPr lang="en-US" dirty="0"/>
              <a:t>Slots Model with Attention (</a:t>
            </a:r>
            <a:r>
              <a:rPr lang="en-US" dirty="0" err="1"/>
              <a:t>Rouder</a:t>
            </a:r>
            <a:r>
              <a:rPr lang="en-US" dirty="0"/>
              <a:t> et al. 2008)</a:t>
            </a:r>
          </a:p>
        </p:txBody>
      </p:sp>
      <p:pic>
        <p:nvPicPr>
          <p:cNvPr id="5" name="Content Placeholder 4" descr="A diagram of a hexagon&#10;&#10;AI-generated content may be incorrect.">
            <a:extLst>
              <a:ext uri="{FF2B5EF4-FFF2-40B4-BE49-F238E27FC236}">
                <a16:creationId xmlns:a16="http://schemas.microsoft.com/office/drawing/2014/main" id="{92DCAE5A-86F0-934B-1528-357407E5A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662" y="1211861"/>
            <a:ext cx="9812079" cy="30824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0B072-C2E4-AEA1-1AA4-1890631C6A44}"/>
              </a:ext>
            </a:extLst>
          </p:cNvPr>
          <p:cNvSpPr txBox="1"/>
          <p:nvPr/>
        </p:nvSpPr>
        <p:spPr>
          <a:xfrm>
            <a:off x="1137684" y="712146"/>
            <a:ext cx="340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Change Trial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4C3934-7AD5-8166-0698-2FAD533FD419}"/>
              </a:ext>
            </a:extLst>
          </p:cNvPr>
          <p:cNvSpPr txBox="1"/>
          <p:nvPr/>
        </p:nvSpPr>
        <p:spPr>
          <a:xfrm>
            <a:off x="6861545" y="712146"/>
            <a:ext cx="3402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Same Trial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B57C0-0A31-8067-4506-A063D9561EDE}"/>
              </a:ext>
            </a:extLst>
          </p:cNvPr>
          <p:cNvSpPr txBox="1"/>
          <p:nvPr/>
        </p:nvSpPr>
        <p:spPr>
          <a:xfrm>
            <a:off x="838200" y="5515844"/>
            <a:ext cx="108292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m</a:t>
            </a:r>
            <a:r>
              <a:rPr lang="en-US" sz="2000" dirty="0"/>
              <a:t> (probability that study </a:t>
            </a:r>
            <a:r>
              <a:rPr lang="en-US" sz="2000" dirty="0" err="1"/>
              <a:t>colour</a:t>
            </a:r>
            <a:r>
              <a:rPr lang="en-US" sz="2000" dirty="0"/>
              <a:t> is in memory) = min(1; </a:t>
            </a:r>
            <a:r>
              <a:rPr lang="en-US" sz="2000" i="1" dirty="0"/>
              <a:t>k</a:t>
            </a:r>
            <a:r>
              <a:rPr lang="en-US" sz="2000" dirty="0"/>
              <a:t>/</a:t>
            </a:r>
            <a:r>
              <a:rPr lang="en-US" sz="2000" i="1" dirty="0"/>
              <a:t>M</a:t>
            </a:r>
            <a:r>
              <a:rPr lang="en-US" sz="2000" dirty="0"/>
              <a:t>), where </a:t>
            </a:r>
            <a:r>
              <a:rPr lang="en-US" sz="2000" i="1" dirty="0"/>
              <a:t>k</a:t>
            </a:r>
            <a:r>
              <a:rPr lang="en-US" sz="2000" dirty="0"/>
              <a:t> = memory capacity and </a:t>
            </a:r>
            <a:r>
              <a:rPr lang="en-US" sz="2000" i="1" dirty="0"/>
              <a:t>M</a:t>
            </a:r>
            <a:r>
              <a:rPr lang="en-US" sz="2000" dirty="0"/>
              <a:t> = study set size. </a:t>
            </a:r>
          </a:p>
          <a:p>
            <a:r>
              <a:rPr lang="en-US" sz="2000" i="1" dirty="0"/>
              <a:t>g</a:t>
            </a:r>
            <a:r>
              <a:rPr lang="en-US" sz="2000" dirty="0"/>
              <a:t> = probability to guess “change” </a:t>
            </a:r>
          </a:p>
          <a:p>
            <a:r>
              <a:rPr lang="en-US" sz="2000" i="1" dirty="0"/>
              <a:t>a</a:t>
            </a:r>
            <a:r>
              <a:rPr lang="en-US" sz="2000" dirty="0"/>
              <a:t> = probability of paying attention during study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E1509-69D6-5440-20E7-6B0474CA62AC}"/>
              </a:ext>
            </a:extLst>
          </p:cNvPr>
          <p:cNvSpPr txBox="1"/>
          <p:nvPr/>
        </p:nvSpPr>
        <p:spPr>
          <a:xfrm>
            <a:off x="1320210" y="1721816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183B18-3F07-317A-304B-DDFAB50AA224}"/>
              </a:ext>
            </a:extLst>
          </p:cNvPr>
          <p:cNvSpPr txBox="1"/>
          <p:nvPr/>
        </p:nvSpPr>
        <p:spPr>
          <a:xfrm>
            <a:off x="1020728" y="3073080"/>
            <a:ext cx="7141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20DD21-9481-BC7D-81B4-E670204FE0C7}"/>
              </a:ext>
            </a:extLst>
          </p:cNvPr>
          <p:cNvSpPr txBox="1"/>
          <p:nvPr/>
        </p:nvSpPr>
        <p:spPr>
          <a:xfrm>
            <a:off x="2396314" y="2946618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C9209D-21A2-CE83-33A2-234C2F852B72}"/>
              </a:ext>
            </a:extLst>
          </p:cNvPr>
          <p:cNvSpPr txBox="1"/>
          <p:nvPr/>
        </p:nvSpPr>
        <p:spPr>
          <a:xfrm>
            <a:off x="2098602" y="3648987"/>
            <a:ext cx="6911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09F49F-63BD-3FE2-35AF-0B5872F6D5B6}"/>
              </a:ext>
            </a:extLst>
          </p:cNvPr>
          <p:cNvSpPr txBox="1"/>
          <p:nvPr/>
        </p:nvSpPr>
        <p:spPr>
          <a:xfrm>
            <a:off x="5507664" y="1721816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D45ADEA-A809-0C40-BCB4-701A8F9D3786}"/>
              </a:ext>
            </a:extLst>
          </p:cNvPr>
          <p:cNvSpPr txBox="1"/>
          <p:nvPr/>
        </p:nvSpPr>
        <p:spPr>
          <a:xfrm>
            <a:off x="5208182" y="3073080"/>
            <a:ext cx="71415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E71767-3709-9320-FDCA-CAEB73BE9C80}"/>
              </a:ext>
            </a:extLst>
          </p:cNvPr>
          <p:cNvSpPr txBox="1"/>
          <p:nvPr/>
        </p:nvSpPr>
        <p:spPr>
          <a:xfrm>
            <a:off x="6583768" y="2946618"/>
            <a:ext cx="39340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F35097-0660-5305-568F-B8F9D56338B3}"/>
              </a:ext>
            </a:extLst>
          </p:cNvPr>
          <p:cNvSpPr txBox="1"/>
          <p:nvPr/>
        </p:nvSpPr>
        <p:spPr>
          <a:xfrm>
            <a:off x="6286056" y="3648987"/>
            <a:ext cx="691117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1-</a:t>
            </a:r>
            <a:r>
              <a:rPr lang="en-US" sz="2400" i="1" dirty="0"/>
              <a:t>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824D50-9005-78AF-C415-7482219D602E}"/>
              </a:ext>
            </a:extLst>
          </p:cNvPr>
          <p:cNvCxnSpPr/>
          <p:nvPr/>
        </p:nvCxnSpPr>
        <p:spPr>
          <a:xfrm flipH="1">
            <a:off x="648586" y="2551814"/>
            <a:ext cx="978195" cy="1052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82B59E-6B39-AECA-46FB-6E6D4593BF06}"/>
              </a:ext>
            </a:extLst>
          </p:cNvPr>
          <p:cNvCxnSpPr/>
          <p:nvPr/>
        </p:nvCxnSpPr>
        <p:spPr>
          <a:xfrm>
            <a:off x="648586" y="3625702"/>
            <a:ext cx="1063256" cy="1041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0509D2-0327-DE62-D0A3-C2A68C8E48EF}"/>
              </a:ext>
            </a:extLst>
          </p:cNvPr>
          <p:cNvCxnSpPr>
            <a:cxnSpLocks/>
          </p:cNvCxnSpPr>
          <p:nvPr/>
        </p:nvCxnSpPr>
        <p:spPr>
          <a:xfrm flipV="1">
            <a:off x="1711842" y="4438394"/>
            <a:ext cx="1977656" cy="229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BB591F-9B38-69EB-02C3-BDD749FC6A98}"/>
              </a:ext>
            </a:extLst>
          </p:cNvPr>
          <p:cNvCxnSpPr>
            <a:cxnSpLocks/>
          </p:cNvCxnSpPr>
          <p:nvPr/>
        </p:nvCxnSpPr>
        <p:spPr>
          <a:xfrm>
            <a:off x="1711842" y="4667693"/>
            <a:ext cx="1977656" cy="308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39C204-553C-B769-98AB-6595CE0CE521}"/>
              </a:ext>
            </a:extLst>
          </p:cNvPr>
          <p:cNvSpPr txBox="1"/>
          <p:nvPr/>
        </p:nvSpPr>
        <p:spPr>
          <a:xfrm>
            <a:off x="3689498" y="4176784"/>
            <a:ext cx="1275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EE6389-9BEE-228D-7022-0EBC56280A21}"/>
              </a:ext>
            </a:extLst>
          </p:cNvPr>
          <p:cNvSpPr txBox="1"/>
          <p:nvPr/>
        </p:nvSpPr>
        <p:spPr>
          <a:xfrm>
            <a:off x="3689497" y="4724653"/>
            <a:ext cx="12759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Miss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3D687D-19D5-6D11-4750-109493052517}"/>
              </a:ext>
            </a:extLst>
          </p:cNvPr>
          <p:cNvSpPr txBox="1"/>
          <p:nvPr/>
        </p:nvSpPr>
        <p:spPr>
          <a:xfrm>
            <a:off x="2307265" y="4235736"/>
            <a:ext cx="53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A0D37F-2204-3596-758F-19F05DE25BA0}"/>
              </a:ext>
            </a:extLst>
          </p:cNvPr>
          <p:cNvSpPr txBox="1"/>
          <p:nvPr/>
        </p:nvSpPr>
        <p:spPr>
          <a:xfrm>
            <a:off x="2307264" y="4812838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</a:t>
            </a:r>
            <a:r>
              <a:rPr lang="en-US" i="1" dirty="0"/>
              <a:t>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932E29-B15A-0F86-47DE-1C03AB5059D8}"/>
              </a:ext>
            </a:extLst>
          </p:cNvPr>
          <p:cNvSpPr txBox="1"/>
          <p:nvPr/>
        </p:nvSpPr>
        <p:spPr>
          <a:xfrm>
            <a:off x="659219" y="4104505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</a:t>
            </a:r>
            <a:r>
              <a:rPr lang="en-US" i="1" dirty="0"/>
              <a:t>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543F71-75D9-7454-FEE6-2F54A1521E8B}"/>
              </a:ext>
            </a:extLst>
          </p:cNvPr>
          <p:cNvSpPr txBox="1"/>
          <p:nvPr/>
        </p:nvSpPr>
        <p:spPr>
          <a:xfrm>
            <a:off x="712380" y="2959008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DBAAFF-C364-80EA-043E-02F6FC86743E}"/>
              </a:ext>
            </a:extLst>
          </p:cNvPr>
          <p:cNvCxnSpPr/>
          <p:nvPr/>
        </p:nvCxnSpPr>
        <p:spPr>
          <a:xfrm flipH="1">
            <a:off x="4816549" y="2545527"/>
            <a:ext cx="978195" cy="10526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C0DAE73-CC46-6F7C-7241-870D6EAA3E1B}"/>
              </a:ext>
            </a:extLst>
          </p:cNvPr>
          <p:cNvCxnSpPr/>
          <p:nvPr/>
        </p:nvCxnSpPr>
        <p:spPr>
          <a:xfrm>
            <a:off x="4816549" y="3619415"/>
            <a:ext cx="1063256" cy="10419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5EC327-EAE2-920C-2373-156F3C7B1295}"/>
              </a:ext>
            </a:extLst>
          </p:cNvPr>
          <p:cNvCxnSpPr>
            <a:cxnSpLocks/>
          </p:cNvCxnSpPr>
          <p:nvPr/>
        </p:nvCxnSpPr>
        <p:spPr>
          <a:xfrm flipV="1">
            <a:off x="5879805" y="4432107"/>
            <a:ext cx="1977656" cy="2292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1BC091-52A3-DA68-1704-CD34A5D3043E}"/>
              </a:ext>
            </a:extLst>
          </p:cNvPr>
          <p:cNvCxnSpPr>
            <a:cxnSpLocks/>
          </p:cNvCxnSpPr>
          <p:nvPr/>
        </p:nvCxnSpPr>
        <p:spPr>
          <a:xfrm>
            <a:off x="5879805" y="4661406"/>
            <a:ext cx="1977656" cy="308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5E168CF-F6D8-5EBA-7ED1-841DCBA5E642}"/>
              </a:ext>
            </a:extLst>
          </p:cNvPr>
          <p:cNvSpPr txBox="1"/>
          <p:nvPr/>
        </p:nvSpPr>
        <p:spPr>
          <a:xfrm>
            <a:off x="7857461" y="4170497"/>
            <a:ext cx="2041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False Alarm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91D848-DDF3-16E6-7459-EAF3E295A622}"/>
              </a:ext>
            </a:extLst>
          </p:cNvPr>
          <p:cNvSpPr txBox="1"/>
          <p:nvPr/>
        </p:nvSpPr>
        <p:spPr>
          <a:xfrm>
            <a:off x="7857459" y="4718366"/>
            <a:ext cx="3039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Correct Rejection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6BE473-DFB4-4D84-6FCF-98ED497AC750}"/>
              </a:ext>
            </a:extLst>
          </p:cNvPr>
          <p:cNvSpPr txBox="1"/>
          <p:nvPr/>
        </p:nvSpPr>
        <p:spPr>
          <a:xfrm>
            <a:off x="6475228" y="4229449"/>
            <a:ext cx="531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95A7DD-098B-A72D-1C04-B5A016F446F6}"/>
              </a:ext>
            </a:extLst>
          </p:cNvPr>
          <p:cNvSpPr txBox="1"/>
          <p:nvPr/>
        </p:nvSpPr>
        <p:spPr>
          <a:xfrm>
            <a:off x="6475227" y="4806551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</a:t>
            </a:r>
            <a:r>
              <a:rPr lang="en-US" i="1" dirty="0"/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9E416B-4F87-8D92-08C7-8AC99F457150}"/>
              </a:ext>
            </a:extLst>
          </p:cNvPr>
          <p:cNvSpPr txBox="1"/>
          <p:nvPr/>
        </p:nvSpPr>
        <p:spPr>
          <a:xfrm>
            <a:off x="4827182" y="4098218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1 - </a:t>
            </a:r>
            <a:r>
              <a:rPr lang="en-US" i="1" dirty="0"/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EDC515-B662-C955-FBD6-91A6B0DCF936}"/>
              </a:ext>
            </a:extLst>
          </p:cNvPr>
          <p:cNvSpPr txBox="1"/>
          <p:nvPr/>
        </p:nvSpPr>
        <p:spPr>
          <a:xfrm>
            <a:off x="4880343" y="2952721"/>
            <a:ext cx="850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5811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417</Words>
  <Application>Microsoft Macintosh PowerPoint</Application>
  <PresentationFormat>Widescreen</PresentationFormat>
  <Paragraphs>67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Change Detection Modelling</vt:lpstr>
      <vt:lpstr>Change Detection Task</vt:lpstr>
      <vt:lpstr>Slots Model (Cowan Variant)</vt:lpstr>
      <vt:lpstr>Slots Model with Attention (Rouder et al. 2008)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Singmann, Henrik</dc:creator>
  <cp:lastModifiedBy>Singmann, Henrik</cp:lastModifiedBy>
  <cp:revision>4</cp:revision>
  <dcterms:created xsi:type="dcterms:W3CDTF">2025-03-03T11:34:32Z</dcterms:created>
  <dcterms:modified xsi:type="dcterms:W3CDTF">2025-03-24T14:34:28Z</dcterms:modified>
</cp:coreProperties>
</file>